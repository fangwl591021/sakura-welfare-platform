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wide"/>
  <p:notesSz cx="6858000" cy="9144000"/>
  <p:defaultTextStyle>
    <a:defPPr>
      <a:defRPr lang="zh-TW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  <p:sp>
        <p:nvSpPr>
          <p:cNvPr id="3" name="Header"/>
          <p:cNvSpPr txBox="1"/>
          <p:nvPr/>
        </p:nvSpPr>
        <p:spPr>
          <a:xfrm>
            <a:off x="740000" y="16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b="1">
                <a:solidFill>
                  <a:srgbClr val="FFFFFF"/>
                </a:solidFill>
                <a:latin typeface="Microsoft JhengHei"/>
                <a:ea typeface="Microsoft JhengHei"/>
              </a:rPr>
              <a:t>櫻花福委會福利資訊整合平台</a:t>
            </a:r>
            <a:endParaRPr lang="zh-TW" sz="1800"/>
          </a:p>
        </p:txBody>
      </p:sp>
      <p:sp>
        <p:nvSpPr>
          <p:cNvPr id="4" name="Title"/>
          <p:cNvSpPr txBox="1"/>
          <p:nvPr/>
        </p:nvSpPr>
        <p:spPr>
          <a:xfrm>
            <a:off x="740000" y="95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b="1">
                <a:solidFill>
                  <a:srgbClr val="071226"/>
                </a:solidFill>
                <a:latin typeface="Microsoft JhengHei"/>
                <a:ea typeface="Microsoft JhengHei"/>
              </a:rPr>
              <a:t>明日規格討論重點</a:t>
            </a:r>
            <a:endParaRPr lang="zh-TW" sz="3100"/>
          </a:p>
        </p:txBody>
      </p:sp>
      <p:sp>
        <p:nvSpPr>
          <p:cNvPr id="5" name="Subtitle"/>
          <p:cNvSpPr txBox="1"/>
          <p:nvPr/>
        </p:nvSpPr>
        <p:spPr>
          <a:xfrm>
            <a:off x="760000" y="1480000"/>
            <a:ext cx="93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>
                <a:solidFill>
                  <a:srgbClr val="52627A"/>
                </a:solidFill>
                <a:latin typeface="Microsoft JhengHei"/>
                <a:ea typeface="Microsoft JhengHei"/>
              </a:rPr>
              <a:t>以福委會委員視角：讓員工找得到、用得到、被照顧；讓廠商能上架；讓福委會能監看與稽核。</a:t>
            </a:r>
            <a:endParaRPr lang="zh-TW" sz="1500"/>
          </a:p>
        </p:txBody>
      </p:sp>
      <p:sp>
        <p:nvSpPr>
          <p:cNvPr id="6" name="Section"/>
          <p:cNvSpPr txBox="1"/>
          <p:nvPr/>
        </p:nvSpPr>
        <p:spPr>
          <a:xfrm>
            <a:off x="9900000" y="104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300" b="1">
                <a:solidFill>
                  <a:srgbClr val="E91646"/>
                </a:solidFill>
                <a:latin typeface="Microsoft JhengHei"/>
                <a:ea typeface="Microsoft JhengHei"/>
              </a:rPr>
              <a:t>00</a:t>
            </a:r>
            <a:endParaRPr lang="zh-TW" sz="1300"/>
          </a:p>
        </p:txBody>
      </p:sp>
      <p:sp>
        <p:nvSpPr>
          <p:cNvPr id="7" name="Shape 7"/>
          <p:cNvSpPr/>
          <p:nvPr/>
        </p:nvSpPr>
        <p:spPr>
          <a:xfrm>
            <a:off x="780000" y="1990000"/>
            <a:ext cx="260000" cy="260000"/>
          </a:xfrm>
          <a:prstGeom prst="roundRect">
            <a:avLst/>
          </a:prstGeom>
          <a:solidFill>
            <a:srgbClr val="FFF0F3"/>
          </a:solidFill>
          <a:ln w="12700">
            <a:solidFill>
              <a:srgbClr val="F6C7D2"/>
            </a:solidFill>
          </a:ln>
        </p:spPr>
      </p:sp>
      <p:sp>
        <p:nvSpPr>
          <p:cNvPr id="8" name="No"/>
          <p:cNvSpPr txBox="1"/>
          <p:nvPr/>
        </p:nvSpPr>
        <p:spPr>
          <a:xfrm>
            <a:off x="840000" y="2025000"/>
            <a:ext cx="16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150" b="1">
                <a:solidFill>
                  <a:srgbClr val="E91646"/>
                </a:solidFill>
                <a:latin typeface="Microsoft JhengHei"/>
                <a:ea typeface="Microsoft JhengHei"/>
              </a:rPr>
              <a:t>1</a:t>
            </a:r>
            <a:endParaRPr lang="zh-TW" sz="1150"/>
          </a:p>
        </p:txBody>
      </p:sp>
      <p:sp>
        <p:nvSpPr>
          <p:cNvPr id="9" name="Bullet"/>
          <p:cNvSpPr txBox="1"/>
          <p:nvPr/>
        </p:nvSpPr>
        <p:spPr>
          <a:xfrm>
            <a:off x="1140000" y="2010000"/>
            <a:ext cx="9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平台定位：LINE OA 福利資訊整合平台，不只是公告頁。</a:t>
            </a:r>
            <a:endParaRPr lang="zh-TW" sz="1700"/>
          </a:p>
        </p:txBody>
      </p:sp>
      <p:sp>
        <p:nvSpPr>
          <p:cNvPr id="10" name="Shape 10"/>
          <p:cNvSpPr/>
          <p:nvPr/>
        </p:nvSpPr>
        <p:spPr>
          <a:xfrm>
            <a:off x="780000" y="2510000"/>
            <a:ext cx="260000" cy="260000"/>
          </a:xfrm>
          <a:prstGeom prst="roundRect">
            <a:avLst/>
          </a:prstGeom>
          <a:solidFill>
            <a:srgbClr val="FFF0F3"/>
          </a:solidFill>
          <a:ln w="12700">
            <a:solidFill>
              <a:srgbClr val="F6C7D2"/>
            </a:solidFill>
          </a:ln>
        </p:spPr>
      </p:sp>
      <p:sp>
        <p:nvSpPr>
          <p:cNvPr id="11" name="No"/>
          <p:cNvSpPr txBox="1"/>
          <p:nvPr/>
        </p:nvSpPr>
        <p:spPr>
          <a:xfrm>
            <a:off x="840000" y="2545000"/>
            <a:ext cx="16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150" b="1">
                <a:solidFill>
                  <a:srgbClr val="E91646"/>
                </a:solidFill>
                <a:latin typeface="Microsoft JhengHei"/>
                <a:ea typeface="Microsoft JhengHei"/>
              </a:rPr>
              <a:t>2</a:t>
            </a:r>
            <a:endParaRPr lang="zh-TW" sz="1150"/>
          </a:p>
        </p:txBody>
      </p:sp>
      <p:sp>
        <p:nvSpPr>
          <p:cNvPr id="12" name="Bullet"/>
          <p:cNvSpPr txBox="1"/>
          <p:nvPr/>
        </p:nvSpPr>
        <p:spPr>
          <a:xfrm>
            <a:off x="1140000" y="2530000"/>
            <a:ext cx="9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母站負責員工驗證與點數，子站負責福委會營運流程。</a:t>
            </a:r>
            <a:endParaRPr lang="zh-TW" sz="1700"/>
          </a:p>
        </p:txBody>
      </p:sp>
      <p:sp>
        <p:nvSpPr>
          <p:cNvPr id="13" name="Shape 13"/>
          <p:cNvSpPr/>
          <p:nvPr/>
        </p:nvSpPr>
        <p:spPr>
          <a:xfrm>
            <a:off x="780000" y="3030000"/>
            <a:ext cx="260000" cy="260000"/>
          </a:xfrm>
          <a:prstGeom prst="roundRect">
            <a:avLst/>
          </a:prstGeom>
          <a:solidFill>
            <a:srgbClr val="FFF0F3"/>
          </a:solidFill>
          <a:ln w="12700">
            <a:solidFill>
              <a:srgbClr val="F6C7D2"/>
            </a:solidFill>
          </a:ln>
        </p:spPr>
      </p:sp>
      <p:sp>
        <p:nvSpPr>
          <p:cNvPr id="14" name="No"/>
          <p:cNvSpPr txBox="1"/>
          <p:nvPr/>
        </p:nvSpPr>
        <p:spPr>
          <a:xfrm>
            <a:off x="840000" y="3065000"/>
            <a:ext cx="16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150" b="1">
                <a:solidFill>
                  <a:srgbClr val="E91646"/>
                </a:solidFill>
                <a:latin typeface="Microsoft JhengHei"/>
                <a:ea typeface="Microsoft JhengHei"/>
              </a:rPr>
              <a:t>3</a:t>
            </a:r>
            <a:endParaRPr lang="zh-TW" sz="1150"/>
          </a:p>
        </p:txBody>
      </p:sp>
      <p:sp>
        <p:nvSpPr>
          <p:cNvPr id="15" name="Bullet"/>
          <p:cNvSpPr txBox="1"/>
          <p:nvPr/>
        </p:nvSpPr>
        <p:spPr>
          <a:xfrm>
            <a:off x="1140000" y="3050000"/>
            <a:ext cx="9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廠商註冊、優惠上架、AI OCR、QR 折抵都需審核與紀錄。</a:t>
            </a:r>
            <a:endParaRPr lang="zh-TW" sz="1700"/>
          </a:p>
        </p:txBody>
      </p:sp>
      <p:sp>
        <p:nvSpPr>
          <p:cNvPr id="16" name="Shape 16"/>
          <p:cNvSpPr/>
          <p:nvPr/>
        </p:nvSpPr>
        <p:spPr>
          <a:xfrm>
            <a:off x="780000" y="3550000"/>
            <a:ext cx="260000" cy="260000"/>
          </a:xfrm>
          <a:prstGeom prst="roundRect">
            <a:avLst/>
          </a:prstGeom>
          <a:solidFill>
            <a:srgbClr val="FFF0F3"/>
          </a:solidFill>
          <a:ln w="12700">
            <a:solidFill>
              <a:srgbClr val="F6C7D2"/>
            </a:solidFill>
          </a:ln>
        </p:spPr>
      </p:sp>
      <p:sp>
        <p:nvSpPr>
          <p:cNvPr id="17" name="No"/>
          <p:cNvSpPr txBox="1"/>
          <p:nvPr/>
        </p:nvSpPr>
        <p:spPr>
          <a:xfrm>
            <a:off x="840000" y="3585000"/>
            <a:ext cx="16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150" b="1">
                <a:solidFill>
                  <a:srgbClr val="E91646"/>
                </a:solidFill>
                <a:latin typeface="Microsoft JhengHei"/>
                <a:ea typeface="Microsoft JhengHei"/>
              </a:rPr>
              <a:t>4</a:t>
            </a:r>
            <a:endParaRPr lang="zh-TW" sz="1150"/>
          </a:p>
        </p:txBody>
      </p:sp>
      <p:sp>
        <p:nvSpPr>
          <p:cNvPr id="18" name="Bullet"/>
          <p:cNvSpPr txBox="1"/>
          <p:nvPr/>
        </p:nvSpPr>
        <p:spPr>
          <a:xfrm>
            <a:off x="1140000" y="3570000"/>
            <a:ext cx="9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多語 AI、聊天室監控、分眾推播是提升使用率與管理效率的核心。</a:t>
            </a:r>
            <a:endParaRPr lang="zh-TW" sz="1700"/>
          </a:p>
        </p:txBody>
      </p:sp>
      <p:sp>
        <p:nvSpPr>
          <p:cNvPr id="19" name="Shape 19"/>
          <p:cNvSpPr/>
          <p:nvPr/>
        </p:nvSpPr>
        <p:spPr>
          <a:xfrm>
            <a:off x="740000" y="6380000"/>
            <a:ext cx="10700000" cy="45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  <p:sp>
        <p:nvSpPr>
          <p:cNvPr id="3" name="Header"/>
          <p:cNvSpPr txBox="1"/>
          <p:nvPr/>
        </p:nvSpPr>
        <p:spPr>
          <a:xfrm>
            <a:off x="740000" y="16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b="1">
                <a:solidFill>
                  <a:srgbClr val="FFFFFF"/>
                </a:solidFill>
                <a:latin typeface="Microsoft JhengHei"/>
                <a:ea typeface="Microsoft JhengHei"/>
              </a:rPr>
              <a:t>櫻花福委會福利資訊整合平台</a:t>
            </a:r>
            <a:endParaRPr lang="zh-TW" sz="1800"/>
          </a:p>
        </p:txBody>
      </p:sp>
      <p:sp>
        <p:nvSpPr>
          <p:cNvPr id="4" name="Title"/>
          <p:cNvSpPr txBox="1"/>
          <p:nvPr/>
        </p:nvSpPr>
        <p:spPr>
          <a:xfrm>
            <a:off x="740000" y="95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b="1">
                <a:solidFill>
                  <a:srgbClr val="071226"/>
                </a:solidFill>
                <a:latin typeface="Microsoft JhengHei"/>
                <a:ea typeface="Microsoft JhengHei"/>
              </a:rPr>
              <a:t>整體系統架構</a:t>
            </a:r>
            <a:endParaRPr lang="zh-TW" sz="3100"/>
          </a:p>
        </p:txBody>
      </p:sp>
      <p:sp>
        <p:nvSpPr>
          <p:cNvPr id="5" name="Subtitle"/>
          <p:cNvSpPr txBox="1"/>
          <p:nvPr/>
        </p:nvSpPr>
        <p:spPr>
          <a:xfrm>
            <a:off x="760000" y="1480000"/>
            <a:ext cx="93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>
                <a:solidFill>
                  <a:srgbClr val="52627A"/>
                </a:solidFill>
                <a:latin typeface="Microsoft JhengHei"/>
                <a:ea typeface="Microsoft JhengHei"/>
              </a:rPr>
              <a:t>LINE 事件先進 Cloudflare Worker，再分流到母站與子站，保留既有流程，同時建立福委會營運資料。</a:t>
            </a:r>
            <a:endParaRPr lang="zh-TW" sz="1500"/>
          </a:p>
        </p:txBody>
      </p:sp>
      <p:sp>
        <p:nvSpPr>
          <p:cNvPr id="6" name="Section"/>
          <p:cNvSpPr txBox="1"/>
          <p:nvPr/>
        </p:nvSpPr>
        <p:spPr>
          <a:xfrm>
            <a:off x="9900000" y="104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300" b="1">
                <a:solidFill>
                  <a:srgbClr val="E91646"/>
                </a:solidFill>
                <a:latin typeface="Microsoft JhengHei"/>
                <a:ea typeface="Microsoft JhengHei"/>
              </a:rPr>
              <a:t>01</a:t>
            </a:r>
            <a:endParaRPr lang="zh-TW" sz="1300"/>
          </a:p>
        </p:txBody>
      </p:sp>
      <p:sp>
        <p:nvSpPr>
          <p:cNvPr id="7" name="Bullet"/>
          <p:cNvSpPr txBox="1"/>
          <p:nvPr/>
        </p:nvSpPr>
        <p:spPr>
          <a:xfrm>
            <a:off x="860000" y="205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LINE OA Webhook：/line-webhook。</a:t>
            </a:r>
            <a:endParaRPr lang="zh-TW" sz="1700"/>
          </a:p>
        </p:txBody>
      </p:sp>
      <p:sp>
        <p:nvSpPr>
          <p:cNvPr id="8" name="Bullet"/>
          <p:cNvSpPr txBox="1"/>
          <p:nvPr/>
        </p:nvSpPr>
        <p:spPr>
          <a:xfrm>
            <a:off x="860000" y="248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母站 webhook：https://aiwe.cc/index.php/line_login/9111/。</a:t>
            </a:r>
            <a:endParaRPr lang="zh-TW" sz="1700"/>
          </a:p>
        </p:txBody>
      </p:sp>
      <p:sp>
        <p:nvSpPr>
          <p:cNvPr id="9" name="Bullet"/>
          <p:cNvSpPr txBox="1"/>
          <p:nvPr/>
        </p:nvSpPr>
        <p:spPr>
          <a:xfrm>
            <a:off x="860000" y="291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子站資料：D1 儲存聊天室、廠商、優惠、CRM、推播與折抵紀錄。</a:t>
            </a:r>
            <a:endParaRPr lang="zh-TW" sz="1700"/>
          </a:p>
        </p:txBody>
      </p:sp>
      <p:sp>
        <p:nvSpPr>
          <p:cNvPr id="10" name="Bullet"/>
          <p:cNvSpPr txBox="1"/>
          <p:nvPr/>
        </p:nvSpPr>
        <p:spPr>
          <a:xfrm>
            <a:off x="860000" y="334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R2 儲存廠商文件、菜單、圖片與知識庫檔案。</a:t>
            </a:r>
            <a:endParaRPr lang="zh-TW" sz="1700"/>
          </a:p>
        </p:txBody>
      </p:sp>
      <p:sp>
        <p:nvSpPr>
          <p:cNvPr id="11" name="Bullet"/>
          <p:cNvSpPr txBox="1"/>
          <p:nvPr/>
        </p:nvSpPr>
        <p:spPr>
          <a:xfrm>
            <a:off x="860000" y="377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OpenAI API 用於 OCR、輿情分類、多語翻譯與知識庫問答。</a:t>
            </a:r>
            <a:endParaRPr lang="zh-TW" sz="1700"/>
          </a:p>
        </p:txBody>
      </p:sp>
      <p:sp>
        <p:nvSpPr>
          <p:cNvPr id="12" name="Shape 12"/>
          <p:cNvSpPr/>
          <p:nvPr/>
        </p:nvSpPr>
        <p:spPr>
          <a:xfrm>
            <a:off x="740000" y="6380000"/>
            <a:ext cx="10700000" cy="45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  <p:sp>
        <p:nvSpPr>
          <p:cNvPr id="3" name="Header"/>
          <p:cNvSpPr txBox="1"/>
          <p:nvPr/>
        </p:nvSpPr>
        <p:spPr>
          <a:xfrm>
            <a:off x="740000" y="16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b="1">
                <a:solidFill>
                  <a:srgbClr val="FFFFFF"/>
                </a:solidFill>
                <a:latin typeface="Microsoft JhengHei"/>
                <a:ea typeface="Microsoft JhengHei"/>
              </a:rPr>
              <a:t>櫻花福委會福利資訊整合平台</a:t>
            </a:r>
            <a:endParaRPr lang="zh-TW" sz="1800"/>
          </a:p>
        </p:txBody>
      </p:sp>
      <p:sp>
        <p:nvSpPr>
          <p:cNvPr id="4" name="Title"/>
          <p:cNvSpPr txBox="1"/>
          <p:nvPr/>
        </p:nvSpPr>
        <p:spPr>
          <a:xfrm>
            <a:off x="740000" y="95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b="1">
                <a:solidFill>
                  <a:srgbClr val="071226"/>
                </a:solidFill>
                <a:latin typeface="Microsoft JhengHei"/>
                <a:ea typeface="Microsoft JhengHei"/>
              </a:rPr>
              <a:t>母站與子站分工</a:t>
            </a:r>
            <a:endParaRPr lang="zh-TW" sz="3100"/>
          </a:p>
        </p:txBody>
      </p:sp>
      <p:sp>
        <p:nvSpPr>
          <p:cNvPr id="5" name="Subtitle"/>
          <p:cNvSpPr txBox="1"/>
          <p:nvPr/>
        </p:nvSpPr>
        <p:spPr>
          <a:xfrm>
            <a:off x="760000" y="1480000"/>
            <a:ext cx="93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>
                <a:solidFill>
                  <a:srgbClr val="52627A"/>
                </a:solidFill>
                <a:latin typeface="Microsoft JhengHei"/>
                <a:ea typeface="Microsoft JhengHei"/>
              </a:rPr>
              <a:t>原則：會員與點數權威留在母站；福委會營運與廠商內容放在子站。</a:t>
            </a:r>
            <a:endParaRPr lang="zh-TW" sz="1500"/>
          </a:p>
        </p:txBody>
      </p:sp>
      <p:sp>
        <p:nvSpPr>
          <p:cNvPr id="6" name="Section"/>
          <p:cNvSpPr txBox="1"/>
          <p:nvPr/>
        </p:nvSpPr>
        <p:spPr>
          <a:xfrm>
            <a:off x="9900000" y="104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300" b="1">
                <a:solidFill>
                  <a:srgbClr val="E91646"/>
                </a:solidFill>
                <a:latin typeface="Microsoft JhengHei"/>
                <a:ea typeface="Microsoft JhengHei"/>
              </a:rPr>
              <a:t>02</a:t>
            </a:r>
            <a:endParaRPr lang="zh-TW" sz="1300"/>
          </a:p>
        </p:txBody>
      </p:sp>
      <p:sp>
        <p:nvSpPr>
          <p:cNvPr id="7" name="Shape 7"/>
          <p:cNvSpPr/>
          <p:nvPr/>
        </p:nvSpPr>
        <p:spPr>
          <a:xfrm>
            <a:off x="780000" y="1990000"/>
            <a:ext cx="260000" cy="260000"/>
          </a:xfrm>
          <a:prstGeom prst="roundRect">
            <a:avLst/>
          </a:prstGeom>
          <a:solidFill>
            <a:srgbClr val="FFF0F3"/>
          </a:solidFill>
          <a:ln w="12700">
            <a:solidFill>
              <a:srgbClr val="F6C7D2"/>
            </a:solidFill>
          </a:ln>
        </p:spPr>
      </p:sp>
      <p:sp>
        <p:nvSpPr>
          <p:cNvPr id="8" name="No"/>
          <p:cNvSpPr txBox="1"/>
          <p:nvPr/>
        </p:nvSpPr>
        <p:spPr>
          <a:xfrm>
            <a:off x="840000" y="2025000"/>
            <a:ext cx="16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150" b="1">
                <a:solidFill>
                  <a:srgbClr val="E91646"/>
                </a:solidFill>
                <a:latin typeface="Microsoft JhengHei"/>
                <a:ea typeface="Microsoft JhengHei"/>
              </a:rPr>
              <a:t>母站</a:t>
            </a:r>
            <a:endParaRPr lang="zh-TW" sz="1150"/>
          </a:p>
        </p:txBody>
      </p:sp>
      <p:sp>
        <p:nvSpPr>
          <p:cNvPr id="9" name="Bullet"/>
          <p:cNvSpPr txBox="1"/>
          <p:nvPr/>
        </p:nvSpPr>
        <p:spPr>
          <a:xfrm>
            <a:off x="1140000" y="2010000"/>
            <a:ext cx="9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員工名冊、LINE_user_id 對應、員工驗證、點數新增與查詢。</a:t>
            </a:r>
            <a:endParaRPr lang="zh-TW" sz="1700"/>
          </a:p>
        </p:txBody>
      </p:sp>
      <p:sp>
        <p:nvSpPr>
          <p:cNvPr id="10" name="Shape 10"/>
          <p:cNvSpPr/>
          <p:nvPr/>
        </p:nvSpPr>
        <p:spPr>
          <a:xfrm>
            <a:off x="780000" y="2510000"/>
            <a:ext cx="260000" cy="260000"/>
          </a:xfrm>
          <a:prstGeom prst="roundRect">
            <a:avLst/>
          </a:prstGeom>
          <a:solidFill>
            <a:srgbClr val="FFF0F3"/>
          </a:solidFill>
          <a:ln w="12700">
            <a:solidFill>
              <a:srgbClr val="F6C7D2"/>
            </a:solidFill>
          </a:ln>
        </p:spPr>
      </p:sp>
      <p:sp>
        <p:nvSpPr>
          <p:cNvPr id="11" name="No"/>
          <p:cNvSpPr txBox="1"/>
          <p:nvPr/>
        </p:nvSpPr>
        <p:spPr>
          <a:xfrm>
            <a:off x="840000" y="2545000"/>
            <a:ext cx="16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150" b="1">
                <a:solidFill>
                  <a:srgbClr val="E91646"/>
                </a:solidFill>
                <a:latin typeface="Microsoft JhengHei"/>
                <a:ea typeface="Microsoft JhengHei"/>
              </a:rPr>
              <a:t>子站</a:t>
            </a:r>
            <a:endParaRPr lang="zh-TW" sz="1150"/>
          </a:p>
        </p:txBody>
      </p:sp>
      <p:sp>
        <p:nvSpPr>
          <p:cNvPr id="12" name="Bullet"/>
          <p:cNvSpPr txBox="1"/>
          <p:nvPr/>
        </p:nvSpPr>
        <p:spPr>
          <a:xfrm>
            <a:off x="1140000" y="2530000"/>
            <a:ext cx="9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廠商註冊審核、優惠上架、LINE 監控、CRM、地圖、Flex、Rich Menu。</a:t>
            </a:r>
            <a:endParaRPr lang="zh-TW" sz="1700"/>
          </a:p>
        </p:txBody>
      </p:sp>
      <p:sp>
        <p:nvSpPr>
          <p:cNvPr id="13" name="Shape 13"/>
          <p:cNvSpPr/>
          <p:nvPr/>
        </p:nvSpPr>
        <p:spPr>
          <a:xfrm>
            <a:off x="780000" y="3030000"/>
            <a:ext cx="260000" cy="260000"/>
          </a:xfrm>
          <a:prstGeom prst="roundRect">
            <a:avLst/>
          </a:prstGeom>
          <a:solidFill>
            <a:srgbClr val="FFF0F3"/>
          </a:solidFill>
          <a:ln w="12700">
            <a:solidFill>
              <a:srgbClr val="F6C7D2"/>
            </a:solidFill>
          </a:ln>
        </p:spPr>
      </p:sp>
      <p:sp>
        <p:nvSpPr>
          <p:cNvPr id="14" name="No"/>
          <p:cNvSpPr txBox="1"/>
          <p:nvPr/>
        </p:nvSpPr>
        <p:spPr>
          <a:xfrm>
            <a:off x="840000" y="3065000"/>
            <a:ext cx="16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150" b="1">
                <a:solidFill>
                  <a:srgbClr val="E91646"/>
                </a:solidFill>
                <a:latin typeface="Microsoft JhengHei"/>
                <a:ea typeface="Microsoft JhengHei"/>
              </a:rPr>
              <a:t>串接</a:t>
            </a:r>
            <a:endParaRPr lang="zh-TW" sz="1150"/>
          </a:p>
        </p:txBody>
      </p:sp>
      <p:sp>
        <p:nvSpPr>
          <p:cNvPr id="15" name="Bullet"/>
          <p:cNvSpPr txBox="1"/>
          <p:nvPr/>
        </p:nvSpPr>
        <p:spPr>
          <a:xfrm>
            <a:off x="1140000" y="3050000"/>
            <a:ext cx="9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子站透過 API 呼叫母站點數與驗證結果，不自行成為點數權威。</a:t>
            </a:r>
            <a:endParaRPr lang="zh-TW" sz="1700"/>
          </a:p>
        </p:txBody>
      </p:sp>
      <p:sp>
        <p:nvSpPr>
          <p:cNvPr id="16" name="Shape 16"/>
          <p:cNvSpPr/>
          <p:nvPr/>
        </p:nvSpPr>
        <p:spPr>
          <a:xfrm>
            <a:off x="780000" y="3550000"/>
            <a:ext cx="260000" cy="260000"/>
          </a:xfrm>
          <a:prstGeom prst="roundRect">
            <a:avLst/>
          </a:prstGeom>
          <a:solidFill>
            <a:srgbClr val="FFF0F3"/>
          </a:solidFill>
          <a:ln w="12700">
            <a:solidFill>
              <a:srgbClr val="F6C7D2"/>
            </a:solidFill>
          </a:ln>
        </p:spPr>
      </p:sp>
      <p:sp>
        <p:nvSpPr>
          <p:cNvPr id="17" name="No"/>
          <p:cNvSpPr txBox="1"/>
          <p:nvPr/>
        </p:nvSpPr>
        <p:spPr>
          <a:xfrm>
            <a:off x="840000" y="3585000"/>
            <a:ext cx="16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150" b="1">
                <a:solidFill>
                  <a:srgbClr val="E91646"/>
                </a:solidFill>
                <a:latin typeface="Microsoft JhengHei"/>
                <a:ea typeface="Microsoft JhengHei"/>
              </a:rPr>
              <a:t>安全</a:t>
            </a:r>
            <a:endParaRPr lang="zh-TW" sz="1150"/>
          </a:p>
        </p:txBody>
      </p:sp>
      <p:sp>
        <p:nvSpPr>
          <p:cNvPr id="18" name="Bullet"/>
          <p:cNvSpPr txBox="1"/>
          <p:nvPr/>
        </p:nvSpPr>
        <p:spPr>
          <a:xfrm>
            <a:off x="1140000" y="3570000"/>
            <a:ext cx="9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API Key、LINE Token、OpenAI Key 都放在 Worker secrets，不外露前端。</a:t>
            </a:r>
            <a:endParaRPr lang="zh-TW" sz="1700"/>
          </a:p>
        </p:txBody>
      </p:sp>
      <p:sp>
        <p:nvSpPr>
          <p:cNvPr id="19" name="Shape 19"/>
          <p:cNvSpPr/>
          <p:nvPr/>
        </p:nvSpPr>
        <p:spPr>
          <a:xfrm>
            <a:off x="740000" y="6380000"/>
            <a:ext cx="10700000" cy="45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  <p:sp>
        <p:nvSpPr>
          <p:cNvPr id="3" name="Header"/>
          <p:cNvSpPr txBox="1"/>
          <p:nvPr/>
        </p:nvSpPr>
        <p:spPr>
          <a:xfrm>
            <a:off x="740000" y="16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b="1">
                <a:solidFill>
                  <a:srgbClr val="FFFFFF"/>
                </a:solidFill>
                <a:latin typeface="Microsoft JhengHei"/>
                <a:ea typeface="Microsoft JhengHei"/>
              </a:rPr>
              <a:t>櫻花福委會福利資訊整合平台</a:t>
            </a:r>
            <a:endParaRPr lang="zh-TW" sz="1800"/>
          </a:p>
        </p:txBody>
      </p:sp>
      <p:sp>
        <p:nvSpPr>
          <p:cNvPr id="4" name="Title"/>
          <p:cNvSpPr txBox="1"/>
          <p:nvPr/>
        </p:nvSpPr>
        <p:spPr>
          <a:xfrm>
            <a:off x="740000" y="95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b="1">
                <a:solidFill>
                  <a:srgbClr val="071226"/>
                </a:solidFill>
                <a:latin typeface="Microsoft JhengHei"/>
                <a:ea typeface="Microsoft JhengHei"/>
              </a:rPr>
              <a:t>會員、員工與 CRM</a:t>
            </a:r>
            <a:endParaRPr lang="zh-TW" sz="3100"/>
          </a:p>
        </p:txBody>
      </p:sp>
      <p:sp>
        <p:nvSpPr>
          <p:cNvPr id="5" name="Subtitle"/>
          <p:cNvSpPr txBox="1"/>
          <p:nvPr/>
        </p:nvSpPr>
        <p:spPr>
          <a:xfrm>
            <a:off x="760000" y="1480000"/>
            <a:ext cx="93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>
                <a:solidFill>
                  <a:srgbClr val="52627A"/>
                </a:solidFill>
                <a:latin typeface="Microsoft JhengHei"/>
                <a:ea typeface="Microsoft JhengHei"/>
              </a:rPr>
              <a:t>所有加入 LINE OA 的好友都進 CRM；員工以工號 + 生日四碼完成綁定。</a:t>
            </a:r>
            <a:endParaRPr lang="zh-TW" sz="1500"/>
          </a:p>
        </p:txBody>
      </p:sp>
      <p:sp>
        <p:nvSpPr>
          <p:cNvPr id="6" name="Section"/>
          <p:cNvSpPr txBox="1"/>
          <p:nvPr/>
        </p:nvSpPr>
        <p:spPr>
          <a:xfrm>
            <a:off x="9900000" y="104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300" b="1">
                <a:solidFill>
                  <a:srgbClr val="E91646"/>
                </a:solidFill>
                <a:latin typeface="Microsoft JhengHei"/>
                <a:ea typeface="Microsoft JhengHei"/>
              </a:rPr>
              <a:t>03</a:t>
            </a:r>
            <a:endParaRPr lang="zh-TW" sz="1300"/>
          </a:p>
        </p:txBody>
      </p:sp>
      <p:sp>
        <p:nvSpPr>
          <p:cNvPr id="7" name="Bullet"/>
          <p:cNvSpPr txBox="1"/>
          <p:nvPr/>
        </p:nvSpPr>
        <p:spPr>
          <a:xfrm>
            <a:off x="860000" y="205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員工驗證：員工工號 + 生日四碼 MMDD。</a:t>
            </a:r>
            <a:endParaRPr lang="zh-TW" sz="1700"/>
          </a:p>
        </p:txBody>
      </p:sp>
      <p:sp>
        <p:nvSpPr>
          <p:cNvPr id="8" name="Bullet"/>
          <p:cNvSpPr txBox="1"/>
          <p:nvPr/>
        </p:nvSpPr>
        <p:spPr>
          <a:xfrm>
            <a:off x="860000" y="248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CRM 身份：員工、訪客、廠商、委員、未知。</a:t>
            </a:r>
            <a:endParaRPr lang="zh-TW" sz="1700"/>
          </a:p>
        </p:txBody>
      </p:sp>
      <p:sp>
        <p:nvSpPr>
          <p:cNvPr id="9" name="Bullet"/>
          <p:cNvSpPr txBox="1"/>
          <p:nvPr/>
        </p:nvSpPr>
        <p:spPr>
          <a:xfrm>
            <a:off x="860000" y="291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CRM 欄位：LINE ID、姓名、頭像、電話、Email、標籤、推薦人、最近互動。</a:t>
            </a:r>
            <a:endParaRPr lang="zh-TW" sz="1700"/>
          </a:p>
        </p:txBody>
      </p:sp>
      <p:sp>
        <p:nvSpPr>
          <p:cNvPr id="10" name="Bullet"/>
          <p:cNvSpPr txBox="1"/>
          <p:nvPr/>
        </p:nvSpPr>
        <p:spPr>
          <a:xfrm>
            <a:off x="860000" y="334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推薦好友：連結需帶 UID，接受邀約者登記在推薦人名下。</a:t>
            </a:r>
            <a:endParaRPr lang="zh-TW" sz="1700"/>
          </a:p>
        </p:txBody>
      </p:sp>
      <p:sp>
        <p:nvSpPr>
          <p:cNvPr id="11" name="Shape 11"/>
          <p:cNvSpPr/>
          <p:nvPr/>
        </p:nvSpPr>
        <p:spPr>
          <a:xfrm>
            <a:off x="740000" y="6380000"/>
            <a:ext cx="10700000" cy="45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  <p:sp>
        <p:nvSpPr>
          <p:cNvPr id="3" name="Header"/>
          <p:cNvSpPr txBox="1"/>
          <p:nvPr/>
        </p:nvSpPr>
        <p:spPr>
          <a:xfrm>
            <a:off x="740000" y="16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b="1">
                <a:solidFill>
                  <a:srgbClr val="FFFFFF"/>
                </a:solidFill>
                <a:latin typeface="Microsoft JhengHei"/>
                <a:ea typeface="Microsoft JhengHei"/>
              </a:rPr>
              <a:t>櫻花福委會福利資訊整合平台</a:t>
            </a:r>
            <a:endParaRPr lang="zh-TW" sz="1800"/>
          </a:p>
        </p:txBody>
      </p:sp>
      <p:sp>
        <p:nvSpPr>
          <p:cNvPr id="4" name="Title"/>
          <p:cNvSpPr txBox="1"/>
          <p:nvPr/>
        </p:nvSpPr>
        <p:spPr>
          <a:xfrm>
            <a:off x="740000" y="95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b="1">
                <a:solidFill>
                  <a:srgbClr val="071226"/>
                </a:solidFill>
                <a:latin typeface="Microsoft JhengHei"/>
                <a:ea typeface="Microsoft JhengHei"/>
              </a:rPr>
              <a:t>廠商註冊與審核</a:t>
            </a:r>
            <a:endParaRPr lang="zh-TW" sz="3100"/>
          </a:p>
        </p:txBody>
      </p:sp>
      <p:sp>
        <p:nvSpPr>
          <p:cNvPr id="5" name="Subtitle"/>
          <p:cNvSpPr txBox="1"/>
          <p:nvPr/>
        </p:nvSpPr>
        <p:spPr>
          <a:xfrm>
            <a:off x="760000" y="1480000"/>
            <a:ext cx="93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>
                <a:solidFill>
                  <a:srgbClr val="52627A"/>
                </a:solidFill>
                <a:latin typeface="Microsoft JhengHei"/>
                <a:ea typeface="Microsoft JhengHei"/>
              </a:rPr>
              <a:t>申請表需完整保存公司登記、聯絡資料、證照、保險、合約與優惠政策。</a:t>
            </a:r>
            <a:endParaRPr lang="zh-TW" sz="1500"/>
          </a:p>
        </p:txBody>
      </p:sp>
      <p:sp>
        <p:nvSpPr>
          <p:cNvPr id="6" name="Section"/>
          <p:cNvSpPr txBox="1"/>
          <p:nvPr/>
        </p:nvSpPr>
        <p:spPr>
          <a:xfrm>
            <a:off x="9900000" y="104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300" b="1">
                <a:solidFill>
                  <a:srgbClr val="E91646"/>
                </a:solidFill>
                <a:latin typeface="Microsoft JhengHei"/>
                <a:ea typeface="Microsoft JhengHei"/>
              </a:rPr>
              <a:t>04</a:t>
            </a:r>
            <a:endParaRPr lang="zh-TW" sz="1300"/>
          </a:p>
        </p:txBody>
      </p:sp>
      <p:sp>
        <p:nvSpPr>
          <p:cNvPr id="7" name="Bullet"/>
          <p:cNvSpPr txBox="1"/>
          <p:nvPr/>
        </p:nvSpPr>
        <p:spPr>
          <a:xfrm>
            <a:off x="860000" y="205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廠商申請頁：/vendor-apply。</a:t>
            </a:r>
            <a:endParaRPr lang="zh-TW" sz="1700"/>
          </a:p>
        </p:txBody>
      </p:sp>
      <p:sp>
        <p:nvSpPr>
          <p:cNvPr id="8" name="Bullet"/>
          <p:cNvSpPr txBox="1"/>
          <p:nvPr/>
        </p:nvSpPr>
        <p:spPr>
          <a:xfrm>
            <a:off x="860000" y="248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文件上傳必須用檔案上傳，不要求廠商填 URL。</a:t>
            </a:r>
            <a:endParaRPr lang="zh-TW" sz="1700"/>
          </a:p>
        </p:txBody>
      </p:sp>
      <p:sp>
        <p:nvSpPr>
          <p:cNvPr id="9" name="Bullet"/>
          <p:cNvSpPr txBox="1"/>
          <p:nvPr/>
        </p:nvSpPr>
        <p:spPr>
          <a:xfrm>
            <a:off x="860000" y="291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後台採 CRM 表格：一行一家，新申請往上排，點入後查看完整申請表。</a:t>
            </a:r>
            <a:endParaRPr lang="zh-TW" sz="1700"/>
          </a:p>
        </p:txBody>
      </p:sp>
      <p:sp>
        <p:nvSpPr>
          <p:cNvPr id="10" name="Bullet"/>
          <p:cNvSpPr txBox="1"/>
          <p:nvPr/>
        </p:nvSpPr>
        <p:spPr>
          <a:xfrm>
            <a:off x="860000" y="334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審核狀態：待審、核准、退回、停權；合作狀態：新合作、啟用、續約中、到期。</a:t>
            </a:r>
            <a:endParaRPr lang="zh-TW" sz="1700"/>
          </a:p>
        </p:txBody>
      </p:sp>
      <p:sp>
        <p:nvSpPr>
          <p:cNvPr id="11" name="Shape 11"/>
          <p:cNvSpPr/>
          <p:nvPr/>
        </p:nvSpPr>
        <p:spPr>
          <a:xfrm>
            <a:off x="740000" y="6380000"/>
            <a:ext cx="10700000" cy="45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  <p:sp>
        <p:nvSpPr>
          <p:cNvPr id="3" name="Header"/>
          <p:cNvSpPr txBox="1"/>
          <p:nvPr/>
        </p:nvSpPr>
        <p:spPr>
          <a:xfrm>
            <a:off x="740000" y="16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b="1">
                <a:solidFill>
                  <a:srgbClr val="FFFFFF"/>
                </a:solidFill>
                <a:latin typeface="Microsoft JhengHei"/>
                <a:ea typeface="Microsoft JhengHei"/>
              </a:rPr>
              <a:t>櫻花福委會福利資訊整合平台</a:t>
            </a:r>
            <a:endParaRPr lang="zh-TW" sz="1800"/>
          </a:p>
        </p:txBody>
      </p:sp>
      <p:sp>
        <p:nvSpPr>
          <p:cNvPr id="4" name="Title"/>
          <p:cNvSpPr txBox="1"/>
          <p:nvPr/>
        </p:nvSpPr>
        <p:spPr>
          <a:xfrm>
            <a:off x="740000" y="95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b="1">
                <a:solidFill>
                  <a:srgbClr val="071226"/>
                </a:solidFill>
                <a:latin typeface="Microsoft JhengHei"/>
                <a:ea typeface="Microsoft JhengHei"/>
              </a:rPr>
              <a:t>商品優惠上架與 AI OCR</a:t>
            </a:r>
            <a:endParaRPr lang="zh-TW" sz="3100"/>
          </a:p>
        </p:txBody>
      </p:sp>
      <p:sp>
        <p:nvSpPr>
          <p:cNvPr id="5" name="Subtitle"/>
          <p:cNvSpPr txBox="1"/>
          <p:nvPr/>
        </p:nvSpPr>
        <p:spPr>
          <a:xfrm>
            <a:off x="760000" y="1480000"/>
            <a:ext cx="93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>
                <a:solidFill>
                  <a:srgbClr val="52627A"/>
                </a:solidFill>
                <a:latin typeface="Microsoft JhengHei"/>
                <a:ea typeface="Microsoft JhengHei"/>
              </a:rPr>
              <a:t>廠商可上傳菜單、DM、商品照，由 AI 擷取成草稿，人工確認後送審。</a:t>
            </a:r>
            <a:endParaRPr lang="zh-TW" sz="1500"/>
          </a:p>
        </p:txBody>
      </p:sp>
      <p:sp>
        <p:nvSpPr>
          <p:cNvPr id="6" name="Section"/>
          <p:cNvSpPr txBox="1"/>
          <p:nvPr/>
        </p:nvSpPr>
        <p:spPr>
          <a:xfrm>
            <a:off x="9900000" y="104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300" b="1">
                <a:solidFill>
                  <a:srgbClr val="E91646"/>
                </a:solidFill>
                <a:latin typeface="Microsoft JhengHei"/>
                <a:ea typeface="Microsoft JhengHei"/>
              </a:rPr>
              <a:t>05</a:t>
            </a:r>
            <a:endParaRPr lang="zh-TW" sz="1300"/>
          </a:p>
        </p:txBody>
      </p:sp>
      <p:sp>
        <p:nvSpPr>
          <p:cNvPr id="7" name="Bullet"/>
          <p:cNvSpPr txBox="1"/>
          <p:nvPr/>
        </p:nvSpPr>
        <p:spPr>
          <a:xfrm>
            <a:off x="860000" y="205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欄位：商品名稱、分類、原價、員工價、訪客價、使用限制、可用地點、QR 核銷。</a:t>
            </a:r>
            <a:endParaRPr lang="zh-TW" sz="1700"/>
          </a:p>
        </p:txBody>
      </p:sp>
      <p:sp>
        <p:nvSpPr>
          <p:cNvPr id="8" name="Bullet"/>
          <p:cNvSpPr txBox="1"/>
          <p:nvPr/>
        </p:nvSpPr>
        <p:spPr>
          <a:xfrm>
            <a:off x="860000" y="248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價格規則：訪客價不得低於員工價。</a:t>
            </a:r>
            <a:endParaRPr lang="zh-TW" sz="1700"/>
          </a:p>
        </p:txBody>
      </p:sp>
      <p:sp>
        <p:nvSpPr>
          <p:cNvPr id="9" name="Bullet"/>
          <p:cNvSpPr txBox="1"/>
          <p:nvPr/>
        </p:nvSpPr>
        <p:spPr>
          <a:xfrm>
            <a:off x="860000" y="291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AI OCR 只產生草稿，不可直接公開。</a:t>
            </a:r>
            <a:endParaRPr lang="zh-TW" sz="1700"/>
          </a:p>
        </p:txBody>
      </p:sp>
      <p:sp>
        <p:nvSpPr>
          <p:cNvPr id="10" name="Bullet"/>
          <p:cNvSpPr txBox="1"/>
          <p:nvPr/>
        </p:nvSpPr>
        <p:spPr>
          <a:xfrm>
            <a:off x="860000" y="334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福委會審核優惠揭露、價格規則與員工權益，不干涉日常經營。</a:t>
            </a:r>
            <a:endParaRPr lang="zh-TW" sz="1700"/>
          </a:p>
        </p:txBody>
      </p:sp>
      <p:sp>
        <p:nvSpPr>
          <p:cNvPr id="11" name="Shape 11"/>
          <p:cNvSpPr/>
          <p:nvPr/>
        </p:nvSpPr>
        <p:spPr>
          <a:xfrm>
            <a:off x="740000" y="6380000"/>
            <a:ext cx="10700000" cy="45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  <p:sp>
        <p:nvSpPr>
          <p:cNvPr id="3" name="Header"/>
          <p:cNvSpPr txBox="1"/>
          <p:nvPr/>
        </p:nvSpPr>
        <p:spPr>
          <a:xfrm>
            <a:off x="740000" y="16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b="1">
                <a:solidFill>
                  <a:srgbClr val="FFFFFF"/>
                </a:solidFill>
                <a:latin typeface="Microsoft JhengHei"/>
                <a:ea typeface="Microsoft JhengHei"/>
              </a:rPr>
              <a:t>櫻花福委會福利資訊整合平台</a:t>
            </a:r>
            <a:endParaRPr lang="zh-TW" sz="1800"/>
          </a:p>
        </p:txBody>
      </p:sp>
      <p:sp>
        <p:nvSpPr>
          <p:cNvPr id="4" name="Title"/>
          <p:cNvSpPr txBox="1"/>
          <p:nvPr/>
        </p:nvSpPr>
        <p:spPr>
          <a:xfrm>
            <a:off x="740000" y="95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b="1">
                <a:solidFill>
                  <a:srgbClr val="071226"/>
                </a:solidFill>
                <a:latin typeface="Microsoft JhengHei"/>
                <a:ea typeface="Microsoft JhengHei"/>
              </a:rPr>
              <a:t>QR 折抵與點數</a:t>
            </a:r>
            <a:endParaRPr lang="zh-TW" sz="3100"/>
          </a:p>
        </p:txBody>
      </p:sp>
      <p:sp>
        <p:nvSpPr>
          <p:cNvPr id="5" name="Subtitle"/>
          <p:cNvSpPr txBox="1"/>
          <p:nvPr/>
        </p:nvSpPr>
        <p:spPr>
          <a:xfrm>
            <a:off x="760000" y="1480000"/>
            <a:ext cx="93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>
                <a:solidFill>
                  <a:srgbClr val="52627A"/>
                </a:solidFill>
                <a:latin typeface="Microsoft JhengHei"/>
                <a:ea typeface="Microsoft JhengHei"/>
              </a:rPr>
              <a:t>掃碼時依身份決定折抵，點數從母站讀寫，子站保留業務紀錄。</a:t>
            </a:r>
            <a:endParaRPr lang="zh-TW" sz="1500"/>
          </a:p>
        </p:txBody>
      </p:sp>
      <p:sp>
        <p:nvSpPr>
          <p:cNvPr id="6" name="Section"/>
          <p:cNvSpPr txBox="1"/>
          <p:nvPr/>
        </p:nvSpPr>
        <p:spPr>
          <a:xfrm>
            <a:off x="9900000" y="104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300" b="1">
                <a:solidFill>
                  <a:srgbClr val="E91646"/>
                </a:solidFill>
                <a:latin typeface="Microsoft JhengHei"/>
                <a:ea typeface="Microsoft JhengHei"/>
              </a:rPr>
              <a:t>06</a:t>
            </a:r>
            <a:endParaRPr lang="zh-TW" sz="1300"/>
          </a:p>
        </p:txBody>
      </p:sp>
      <p:sp>
        <p:nvSpPr>
          <p:cNvPr id="7" name="Bullet"/>
          <p:cNvSpPr txBox="1"/>
          <p:nvPr/>
        </p:nvSpPr>
        <p:spPr>
          <a:xfrm>
            <a:off x="860000" y="205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身份：員工、訪客、廠商操作員、管理員。</a:t>
            </a:r>
            <a:endParaRPr lang="zh-TW" sz="1700"/>
          </a:p>
        </p:txBody>
      </p:sp>
      <p:sp>
        <p:nvSpPr>
          <p:cNvPr id="8" name="Bullet"/>
          <p:cNvSpPr txBox="1"/>
          <p:nvPr/>
        </p:nvSpPr>
        <p:spPr>
          <a:xfrm>
            <a:off x="860000" y="248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折抵紀錄：原價、員工價、訪客價、實付、折抵、店家、操作員、時間。</a:t>
            </a:r>
            <a:endParaRPr lang="zh-TW" sz="1700"/>
          </a:p>
        </p:txBody>
      </p:sp>
      <p:sp>
        <p:nvSpPr>
          <p:cNvPr id="9" name="Bullet"/>
          <p:cNvSpPr txBox="1"/>
          <p:nvPr/>
        </p:nvSpPr>
        <p:spPr>
          <a:xfrm>
            <a:off x="860000" y="291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點數 API：新增點數 insert-user-point，查詢 query-user-point-list。</a:t>
            </a:r>
            <a:endParaRPr lang="zh-TW" sz="1700"/>
          </a:p>
        </p:txBody>
      </p:sp>
      <p:sp>
        <p:nvSpPr>
          <p:cNvPr id="10" name="Bullet"/>
          <p:cNvSpPr txBox="1"/>
          <p:nvPr/>
        </p:nvSpPr>
        <p:spPr>
          <a:xfrm>
            <a:off x="860000" y="334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活動：每日打卡取點、到店打卡、推薦好友、活動參與。</a:t>
            </a:r>
            <a:endParaRPr lang="zh-TW" sz="1700"/>
          </a:p>
        </p:txBody>
      </p:sp>
      <p:sp>
        <p:nvSpPr>
          <p:cNvPr id="11" name="Shape 11"/>
          <p:cNvSpPr/>
          <p:nvPr/>
        </p:nvSpPr>
        <p:spPr>
          <a:xfrm>
            <a:off x="740000" y="6380000"/>
            <a:ext cx="10700000" cy="45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  <p:sp>
        <p:nvSpPr>
          <p:cNvPr id="3" name="Header"/>
          <p:cNvSpPr txBox="1"/>
          <p:nvPr/>
        </p:nvSpPr>
        <p:spPr>
          <a:xfrm>
            <a:off x="740000" y="16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b="1">
                <a:solidFill>
                  <a:srgbClr val="FFFFFF"/>
                </a:solidFill>
                <a:latin typeface="Microsoft JhengHei"/>
                <a:ea typeface="Microsoft JhengHei"/>
              </a:rPr>
              <a:t>櫻花福委會福利資訊整合平台</a:t>
            </a:r>
            <a:endParaRPr lang="zh-TW" sz="1800"/>
          </a:p>
        </p:txBody>
      </p:sp>
      <p:sp>
        <p:nvSpPr>
          <p:cNvPr id="4" name="Title"/>
          <p:cNvSpPr txBox="1"/>
          <p:nvPr/>
        </p:nvSpPr>
        <p:spPr>
          <a:xfrm>
            <a:off x="740000" y="95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b="1">
                <a:solidFill>
                  <a:srgbClr val="071226"/>
                </a:solidFill>
                <a:latin typeface="Microsoft JhengHei"/>
                <a:ea typeface="Microsoft JhengHei"/>
              </a:rPr>
              <a:t>LINE OA 專區</a:t>
            </a:r>
            <a:endParaRPr lang="zh-TW" sz="3100"/>
          </a:p>
        </p:txBody>
      </p:sp>
      <p:sp>
        <p:nvSpPr>
          <p:cNvPr id="5" name="Subtitle"/>
          <p:cNvSpPr txBox="1"/>
          <p:nvPr/>
        </p:nvSpPr>
        <p:spPr>
          <a:xfrm>
            <a:off x="760000" y="1480000"/>
            <a:ext cx="93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>
                <a:solidFill>
                  <a:srgbClr val="52627A"/>
                </a:solidFill>
                <a:latin typeface="Microsoft JhengHei"/>
                <a:ea typeface="Microsoft JhengHei"/>
              </a:rPr>
              <a:t>管理 LINE 入口、聊天室、關鍵字、Rich Menu、Flex Message 與分眾推播。</a:t>
            </a:r>
            <a:endParaRPr lang="zh-TW" sz="1500"/>
          </a:p>
        </p:txBody>
      </p:sp>
      <p:sp>
        <p:nvSpPr>
          <p:cNvPr id="6" name="Section"/>
          <p:cNvSpPr txBox="1"/>
          <p:nvPr/>
        </p:nvSpPr>
        <p:spPr>
          <a:xfrm>
            <a:off x="9900000" y="104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300" b="1">
                <a:solidFill>
                  <a:srgbClr val="E91646"/>
                </a:solidFill>
                <a:latin typeface="Microsoft JhengHei"/>
                <a:ea typeface="Microsoft JhengHei"/>
              </a:rPr>
              <a:t>07</a:t>
            </a:r>
            <a:endParaRPr lang="zh-TW" sz="1300"/>
          </a:p>
        </p:txBody>
      </p:sp>
      <p:sp>
        <p:nvSpPr>
          <p:cNvPr id="7" name="Bullet"/>
          <p:cNvSpPr txBox="1"/>
          <p:nvPr/>
        </p:nvSpPr>
        <p:spPr>
          <a:xfrm>
            <a:off x="860000" y="205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LINE OA 總覽：Webhook、D1、Token、OpenAI、最新事件、待處理訊息。</a:t>
            </a:r>
            <a:endParaRPr lang="zh-TW" sz="1700"/>
          </a:p>
        </p:txBody>
      </p:sp>
      <p:sp>
        <p:nvSpPr>
          <p:cNvPr id="8" name="Bullet"/>
          <p:cNvSpPr txBox="1"/>
          <p:nvPr/>
        </p:nvSpPr>
        <p:spPr>
          <a:xfrm>
            <a:off x="860000" y="248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聊天室監控：AI 建議只供管理員參考，不自動回覆。</a:t>
            </a:r>
            <a:endParaRPr lang="zh-TW" sz="1700"/>
          </a:p>
        </p:txBody>
      </p:sp>
      <p:sp>
        <p:nvSpPr>
          <p:cNvPr id="9" name="Bullet"/>
          <p:cNvSpPr txBox="1"/>
          <p:nvPr/>
        </p:nvSpPr>
        <p:spPr>
          <a:xfrm>
            <a:off x="860000" y="291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關鍵字表：分享給好友、每日打卡取點、到店打卡、Flex 回覆、客製流程。</a:t>
            </a:r>
            <a:endParaRPr lang="zh-TW" sz="1700"/>
          </a:p>
        </p:txBody>
      </p:sp>
      <p:sp>
        <p:nvSpPr>
          <p:cNvPr id="10" name="Bullet"/>
          <p:cNvSpPr txBox="1"/>
          <p:nvPr/>
        </p:nvSpPr>
        <p:spPr>
          <a:xfrm>
            <a:off x="860000" y="334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Rich Menu：上傳底圖、劃區、部署 LINE；Flex：自由版、網址擷取器、分享與推播。</a:t>
            </a:r>
            <a:endParaRPr lang="zh-TW" sz="1700"/>
          </a:p>
        </p:txBody>
      </p:sp>
      <p:sp>
        <p:nvSpPr>
          <p:cNvPr id="11" name="Shape 11"/>
          <p:cNvSpPr/>
          <p:nvPr/>
        </p:nvSpPr>
        <p:spPr>
          <a:xfrm>
            <a:off x="740000" y="6380000"/>
            <a:ext cx="10700000" cy="45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  <p:sp>
        <p:nvSpPr>
          <p:cNvPr id="3" name="Header"/>
          <p:cNvSpPr txBox="1"/>
          <p:nvPr/>
        </p:nvSpPr>
        <p:spPr>
          <a:xfrm>
            <a:off x="740000" y="16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b="1">
                <a:solidFill>
                  <a:srgbClr val="FFFFFF"/>
                </a:solidFill>
                <a:latin typeface="Microsoft JhengHei"/>
                <a:ea typeface="Microsoft JhengHei"/>
              </a:rPr>
              <a:t>櫻花福委會福利資訊整合平台</a:t>
            </a:r>
            <a:endParaRPr lang="zh-TW" sz="1800"/>
          </a:p>
        </p:txBody>
      </p:sp>
      <p:sp>
        <p:nvSpPr>
          <p:cNvPr id="4" name="Title"/>
          <p:cNvSpPr txBox="1"/>
          <p:nvPr/>
        </p:nvSpPr>
        <p:spPr>
          <a:xfrm>
            <a:off x="740000" y="95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b="1">
                <a:solidFill>
                  <a:srgbClr val="071226"/>
                </a:solidFill>
                <a:latin typeface="Microsoft JhengHei"/>
                <a:ea typeface="Microsoft JhengHei"/>
              </a:rPr>
              <a:t>全省地圖與醫療院所</a:t>
            </a:r>
            <a:endParaRPr lang="zh-TW" sz="3100"/>
          </a:p>
        </p:txBody>
      </p:sp>
      <p:sp>
        <p:nvSpPr>
          <p:cNvPr id="5" name="Subtitle"/>
          <p:cNvSpPr txBox="1"/>
          <p:nvPr/>
        </p:nvSpPr>
        <p:spPr>
          <a:xfrm>
            <a:off x="760000" y="1480000"/>
            <a:ext cx="93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>
                <a:solidFill>
                  <a:srgbClr val="52627A"/>
                </a:solidFill>
                <a:latin typeface="Microsoft JhengHei"/>
                <a:ea typeface="Microsoft JhengHei"/>
              </a:rPr>
              <a:t>特約店分布不只廠區，需支援全台、離島、縣市與分類索引。</a:t>
            </a:r>
            <a:endParaRPr lang="zh-TW" sz="1500"/>
          </a:p>
        </p:txBody>
      </p:sp>
      <p:sp>
        <p:nvSpPr>
          <p:cNvPr id="6" name="Section"/>
          <p:cNvSpPr txBox="1"/>
          <p:nvPr/>
        </p:nvSpPr>
        <p:spPr>
          <a:xfrm>
            <a:off x="9900000" y="104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300" b="1">
                <a:solidFill>
                  <a:srgbClr val="E91646"/>
                </a:solidFill>
                <a:latin typeface="Microsoft JhengHei"/>
                <a:ea typeface="Microsoft JhengHei"/>
              </a:rPr>
              <a:t>08</a:t>
            </a:r>
            <a:endParaRPr lang="zh-TW" sz="1300"/>
          </a:p>
        </p:txBody>
      </p:sp>
      <p:sp>
        <p:nvSpPr>
          <p:cNvPr id="7" name="Bullet"/>
          <p:cNvSpPr txBox="1"/>
          <p:nvPr/>
        </p:nvSpPr>
        <p:spPr>
          <a:xfrm>
            <a:off x="860000" y="205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分類：食、衣、住、行、育、樂、醫療、其他。</a:t>
            </a:r>
            <a:endParaRPr lang="zh-TW" sz="1700"/>
          </a:p>
        </p:txBody>
      </p:sp>
      <p:sp>
        <p:nvSpPr>
          <p:cNvPr id="8" name="Bullet"/>
          <p:cNvSpPr txBox="1"/>
          <p:nvPr/>
        </p:nvSpPr>
        <p:spPr>
          <a:xfrm>
            <a:off x="860000" y="248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區域：北部、中部、南部、東部、離島。</a:t>
            </a:r>
            <a:endParaRPr lang="zh-TW" sz="1700"/>
          </a:p>
        </p:txBody>
      </p:sp>
      <p:sp>
        <p:nvSpPr>
          <p:cNvPr id="9" name="Bullet"/>
          <p:cNvSpPr txBox="1"/>
          <p:nvPr/>
        </p:nvSpPr>
        <p:spPr>
          <a:xfrm>
            <a:off x="860000" y="291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特約醫療院所：保留在縣市分類，也要有獨立篩選入口。</a:t>
            </a:r>
            <a:endParaRPr lang="zh-TW" sz="1700"/>
          </a:p>
        </p:txBody>
      </p:sp>
      <p:sp>
        <p:nvSpPr>
          <p:cNvPr id="10" name="Bullet"/>
          <p:cNvSpPr txBox="1"/>
          <p:nvPr/>
        </p:nvSpPr>
        <p:spPr>
          <a:xfrm>
            <a:off x="860000" y="334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本期不做 LBS 定位，以靜態分類、地圖連結與 Flex 縣市入口呈現。</a:t>
            </a:r>
            <a:endParaRPr lang="zh-TW" sz="1700"/>
          </a:p>
        </p:txBody>
      </p:sp>
      <p:sp>
        <p:nvSpPr>
          <p:cNvPr id="11" name="Shape 11"/>
          <p:cNvSpPr/>
          <p:nvPr/>
        </p:nvSpPr>
        <p:spPr>
          <a:xfrm>
            <a:off x="740000" y="6380000"/>
            <a:ext cx="10700000" cy="45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  <p:sp>
        <p:nvSpPr>
          <p:cNvPr id="3" name="Header"/>
          <p:cNvSpPr txBox="1"/>
          <p:nvPr/>
        </p:nvSpPr>
        <p:spPr>
          <a:xfrm>
            <a:off x="740000" y="16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b="1">
                <a:solidFill>
                  <a:srgbClr val="FFFFFF"/>
                </a:solidFill>
                <a:latin typeface="Microsoft JhengHei"/>
                <a:ea typeface="Microsoft JhengHei"/>
              </a:rPr>
              <a:t>櫻花福委會福利資訊整合平台</a:t>
            </a:r>
            <a:endParaRPr lang="zh-TW" sz="1800"/>
          </a:p>
        </p:txBody>
      </p:sp>
      <p:sp>
        <p:nvSpPr>
          <p:cNvPr id="4" name="Title"/>
          <p:cNvSpPr txBox="1"/>
          <p:nvPr/>
        </p:nvSpPr>
        <p:spPr>
          <a:xfrm>
            <a:off x="740000" y="95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b="1">
                <a:solidFill>
                  <a:srgbClr val="071226"/>
                </a:solidFill>
                <a:latin typeface="Microsoft JhengHei"/>
                <a:ea typeface="Microsoft JhengHei"/>
              </a:rPr>
              <a:t>分眾推播與 Flex 內容</a:t>
            </a:r>
            <a:endParaRPr lang="zh-TW" sz="3100"/>
          </a:p>
        </p:txBody>
      </p:sp>
      <p:sp>
        <p:nvSpPr>
          <p:cNvPr id="5" name="Subtitle"/>
          <p:cNvSpPr txBox="1"/>
          <p:nvPr/>
        </p:nvSpPr>
        <p:spPr>
          <a:xfrm>
            <a:off x="760000" y="1480000"/>
            <a:ext cx="93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>
                <a:solidFill>
                  <a:srgbClr val="52627A"/>
                </a:solidFill>
                <a:latin typeface="Microsoft JhengHei"/>
                <a:ea typeface="Microsoft JhengHei"/>
              </a:rPr>
              <a:t>依 CRM 標籤、身份與互動狀態篩選受眾，發送官方格式或系統客製 Flex。</a:t>
            </a:r>
            <a:endParaRPr lang="zh-TW" sz="1500"/>
          </a:p>
        </p:txBody>
      </p:sp>
      <p:sp>
        <p:nvSpPr>
          <p:cNvPr id="6" name="Section"/>
          <p:cNvSpPr txBox="1"/>
          <p:nvPr/>
        </p:nvSpPr>
        <p:spPr>
          <a:xfrm>
            <a:off x="9900000" y="104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300" b="1">
                <a:solidFill>
                  <a:srgbClr val="E91646"/>
                </a:solidFill>
                <a:latin typeface="Microsoft JhengHei"/>
                <a:ea typeface="Microsoft JhengHei"/>
              </a:rPr>
              <a:t>09</a:t>
            </a:r>
            <a:endParaRPr lang="zh-TW" sz="1300"/>
          </a:p>
        </p:txBody>
      </p:sp>
      <p:sp>
        <p:nvSpPr>
          <p:cNvPr id="7" name="Bullet"/>
          <p:cNvSpPr txBox="1"/>
          <p:nvPr/>
        </p:nvSpPr>
        <p:spPr>
          <a:xfrm>
            <a:off x="860000" y="205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篩選：身份、綁定狀態、標籤、地區、活動、推薦來源、最近互動。</a:t>
            </a:r>
            <a:endParaRPr lang="zh-TW" sz="1700"/>
          </a:p>
        </p:txBody>
      </p:sp>
      <p:sp>
        <p:nvSpPr>
          <p:cNvPr id="8" name="Bullet"/>
          <p:cNvSpPr txBox="1"/>
          <p:nvPr/>
        </p:nvSpPr>
        <p:spPr>
          <a:xfrm>
            <a:off x="860000" y="248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內容：官方文字、官方圖片、Flex 模板、貼上 Flex JSON。</a:t>
            </a:r>
            <a:endParaRPr lang="zh-TW" sz="1700"/>
          </a:p>
        </p:txBody>
      </p:sp>
      <p:sp>
        <p:nvSpPr>
          <p:cNvPr id="9" name="Bullet"/>
          <p:cNvSpPr txBox="1"/>
          <p:nvPr/>
        </p:nvSpPr>
        <p:spPr>
          <a:xfrm>
            <a:off x="860000" y="291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LIFF 分享好友必須使用 liff.shareTargetPicker，不手動拼 URL。</a:t>
            </a:r>
            <a:endParaRPr lang="zh-TW" sz="1700"/>
          </a:p>
        </p:txBody>
      </p:sp>
      <p:sp>
        <p:nvSpPr>
          <p:cNvPr id="10" name="Bullet"/>
          <p:cNvSpPr txBox="1"/>
          <p:nvPr/>
        </p:nvSpPr>
        <p:spPr>
          <a:xfrm>
            <a:off x="860000" y="334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推播需保留受眾條件、成功失敗數、操作者與時間。</a:t>
            </a:r>
            <a:endParaRPr lang="zh-TW" sz="1700"/>
          </a:p>
        </p:txBody>
      </p:sp>
      <p:sp>
        <p:nvSpPr>
          <p:cNvPr id="11" name="Shape 11"/>
          <p:cNvSpPr/>
          <p:nvPr/>
        </p:nvSpPr>
        <p:spPr>
          <a:xfrm>
            <a:off x="740000" y="6380000"/>
            <a:ext cx="10700000" cy="45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  <p:sp>
        <p:nvSpPr>
          <p:cNvPr id="3" name="Header"/>
          <p:cNvSpPr txBox="1"/>
          <p:nvPr/>
        </p:nvSpPr>
        <p:spPr>
          <a:xfrm>
            <a:off x="740000" y="16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b="1">
                <a:solidFill>
                  <a:srgbClr val="FFFFFF"/>
                </a:solidFill>
                <a:latin typeface="Microsoft JhengHei"/>
                <a:ea typeface="Microsoft JhengHei"/>
              </a:rPr>
              <a:t>櫻花福委會福利資訊整合平台</a:t>
            </a:r>
            <a:endParaRPr lang="zh-TW" sz="1800"/>
          </a:p>
        </p:txBody>
      </p:sp>
      <p:sp>
        <p:nvSpPr>
          <p:cNvPr id="4" name="Title"/>
          <p:cNvSpPr txBox="1"/>
          <p:nvPr/>
        </p:nvSpPr>
        <p:spPr>
          <a:xfrm>
            <a:off x="740000" y="95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b="1">
                <a:solidFill>
                  <a:srgbClr val="071226"/>
                </a:solidFill>
                <a:latin typeface="Microsoft JhengHei"/>
                <a:ea typeface="Microsoft JhengHei"/>
              </a:rPr>
              <a:t>AI 與多語服務</a:t>
            </a:r>
            <a:endParaRPr lang="zh-TW" sz="3100"/>
          </a:p>
        </p:txBody>
      </p:sp>
      <p:sp>
        <p:nvSpPr>
          <p:cNvPr id="5" name="Subtitle"/>
          <p:cNvSpPr txBox="1"/>
          <p:nvPr/>
        </p:nvSpPr>
        <p:spPr>
          <a:xfrm>
            <a:off x="760000" y="1480000"/>
            <a:ext cx="93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>
                <a:solidFill>
                  <a:srgbClr val="52627A"/>
                </a:solidFill>
                <a:latin typeface="Microsoft JhengHei"/>
                <a:ea typeface="Microsoft JhengHei"/>
              </a:rPr>
              <a:t>AI 協助 OCR、翻譯、客服監控、知識庫問答與風險提醒。</a:t>
            </a:r>
            <a:endParaRPr lang="zh-TW" sz="1500"/>
          </a:p>
        </p:txBody>
      </p:sp>
      <p:sp>
        <p:nvSpPr>
          <p:cNvPr id="6" name="Section"/>
          <p:cNvSpPr txBox="1"/>
          <p:nvPr/>
        </p:nvSpPr>
        <p:spPr>
          <a:xfrm>
            <a:off x="9900000" y="104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300" b="1">
                <a:solidFill>
                  <a:srgbClr val="E91646"/>
                </a:solidFill>
                <a:latin typeface="Microsoft JhengHei"/>
                <a:ea typeface="Microsoft JhengHei"/>
              </a:rPr>
              <a:t>10</a:t>
            </a:r>
            <a:endParaRPr lang="zh-TW" sz="1300"/>
          </a:p>
        </p:txBody>
      </p:sp>
      <p:sp>
        <p:nvSpPr>
          <p:cNvPr id="7" name="Bullet"/>
          <p:cNvSpPr txBox="1"/>
          <p:nvPr/>
        </p:nvSpPr>
        <p:spPr>
          <a:xfrm>
            <a:off x="860000" y="205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支援語言：繁體中文、印尼文、泰文。</a:t>
            </a:r>
            <a:endParaRPr lang="zh-TW" sz="1700"/>
          </a:p>
        </p:txBody>
      </p:sp>
      <p:sp>
        <p:nvSpPr>
          <p:cNvPr id="8" name="Bullet"/>
          <p:cNvSpPr txBox="1"/>
          <p:nvPr/>
        </p:nvSpPr>
        <p:spPr>
          <a:xfrm>
            <a:off x="860000" y="248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知識庫：文字、網址、檔案；檔案需上傳保存。</a:t>
            </a:r>
            <a:endParaRPr lang="zh-TW" sz="1700"/>
          </a:p>
        </p:txBody>
      </p:sp>
      <p:sp>
        <p:nvSpPr>
          <p:cNvPr id="9" name="Bullet"/>
          <p:cNvSpPr txBox="1"/>
          <p:nvPr/>
        </p:nvSpPr>
        <p:spPr>
          <a:xfrm>
            <a:off x="860000" y="291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AI 回答需依知識庫與福利規則，避免自行亂答。</a:t>
            </a:r>
            <a:endParaRPr lang="zh-TW" sz="1700"/>
          </a:p>
        </p:txBody>
      </p:sp>
      <p:sp>
        <p:nvSpPr>
          <p:cNvPr id="10" name="Bullet"/>
          <p:cNvSpPr txBox="1"/>
          <p:nvPr/>
        </p:nvSpPr>
        <p:spPr>
          <a:xfrm>
            <a:off x="860000" y="334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AI 輿情分類：抱怨、稱讚、建議、廠商支援、高風險、待追蹤。</a:t>
            </a:r>
            <a:endParaRPr lang="zh-TW" sz="1700"/>
          </a:p>
        </p:txBody>
      </p:sp>
      <p:sp>
        <p:nvSpPr>
          <p:cNvPr id="11" name="Shape 11"/>
          <p:cNvSpPr/>
          <p:nvPr/>
        </p:nvSpPr>
        <p:spPr>
          <a:xfrm>
            <a:off x="740000" y="6380000"/>
            <a:ext cx="10700000" cy="45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  <p:sp>
        <p:nvSpPr>
          <p:cNvPr id="3" name="Header"/>
          <p:cNvSpPr txBox="1"/>
          <p:nvPr/>
        </p:nvSpPr>
        <p:spPr>
          <a:xfrm>
            <a:off x="740000" y="16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b="1">
                <a:solidFill>
                  <a:srgbClr val="FFFFFF"/>
                </a:solidFill>
                <a:latin typeface="Microsoft JhengHei"/>
                <a:ea typeface="Microsoft JhengHei"/>
              </a:rPr>
              <a:t>櫻花福委會福利資訊整合平台</a:t>
            </a:r>
            <a:endParaRPr lang="zh-TW" sz="1800"/>
          </a:p>
        </p:txBody>
      </p:sp>
      <p:sp>
        <p:nvSpPr>
          <p:cNvPr id="4" name="Title"/>
          <p:cNvSpPr txBox="1"/>
          <p:nvPr/>
        </p:nvSpPr>
        <p:spPr>
          <a:xfrm>
            <a:off x="740000" y="95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b="1">
                <a:solidFill>
                  <a:srgbClr val="071226"/>
                </a:solidFill>
                <a:latin typeface="Microsoft JhengHei"/>
                <a:ea typeface="Microsoft JhengHei"/>
              </a:rPr>
              <a:t>第一階段 P0 驗收</a:t>
            </a:r>
            <a:endParaRPr lang="zh-TW" sz="3100"/>
          </a:p>
        </p:txBody>
      </p:sp>
      <p:sp>
        <p:nvSpPr>
          <p:cNvPr id="5" name="Subtitle"/>
          <p:cNvSpPr txBox="1"/>
          <p:nvPr/>
        </p:nvSpPr>
        <p:spPr>
          <a:xfrm>
            <a:off x="760000" y="1480000"/>
            <a:ext cx="93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>
                <a:solidFill>
                  <a:srgbClr val="52627A"/>
                </a:solidFill>
                <a:latin typeface="Microsoft JhengHei"/>
                <a:ea typeface="Microsoft JhengHei"/>
              </a:rPr>
              <a:t>明天可先確認 P0 項目作為第一階段交付標準。</a:t>
            </a:r>
            <a:endParaRPr lang="zh-TW" sz="1500"/>
          </a:p>
        </p:txBody>
      </p:sp>
      <p:sp>
        <p:nvSpPr>
          <p:cNvPr id="6" name="Section"/>
          <p:cNvSpPr txBox="1"/>
          <p:nvPr/>
        </p:nvSpPr>
        <p:spPr>
          <a:xfrm>
            <a:off x="9900000" y="104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300" b="1">
                <a:solidFill>
                  <a:srgbClr val="E91646"/>
                </a:solidFill>
                <a:latin typeface="Microsoft JhengHei"/>
                <a:ea typeface="Microsoft JhengHei"/>
              </a:rPr>
              <a:t>11</a:t>
            </a:r>
            <a:endParaRPr lang="zh-TW" sz="1300"/>
          </a:p>
        </p:txBody>
      </p:sp>
      <p:sp>
        <p:nvSpPr>
          <p:cNvPr id="7" name="Bullet"/>
          <p:cNvSpPr txBox="1"/>
          <p:nvPr/>
        </p:nvSpPr>
        <p:spPr>
          <a:xfrm>
            <a:off x="860000" y="205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Webhook 驗證、母站轉發、子站 D1 寫入。</a:t>
            </a:r>
            <a:endParaRPr lang="zh-TW" sz="1700"/>
          </a:p>
        </p:txBody>
      </p:sp>
      <p:sp>
        <p:nvSpPr>
          <p:cNvPr id="8" name="Bullet"/>
          <p:cNvSpPr txBox="1"/>
          <p:nvPr/>
        </p:nvSpPr>
        <p:spPr>
          <a:xfrm>
            <a:off x="860000" y="248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員工驗證、CRM 建立、廠商申請、文件上傳、審核流程。</a:t>
            </a:r>
            <a:endParaRPr lang="zh-TW" sz="1700"/>
          </a:p>
        </p:txBody>
      </p:sp>
      <p:sp>
        <p:nvSpPr>
          <p:cNvPr id="9" name="Bullet"/>
          <p:cNvSpPr txBox="1"/>
          <p:nvPr/>
        </p:nvSpPr>
        <p:spPr>
          <a:xfrm>
            <a:off x="860000" y="291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商品優惠審核、價格規則、QR 折抵、母站點數 API。</a:t>
            </a:r>
            <a:endParaRPr lang="zh-TW" sz="1700"/>
          </a:p>
        </p:txBody>
      </p:sp>
      <p:sp>
        <p:nvSpPr>
          <p:cNvPr id="10" name="Bullet"/>
          <p:cNvSpPr txBox="1"/>
          <p:nvPr/>
        </p:nvSpPr>
        <p:spPr>
          <a:xfrm>
            <a:off x="860000" y="334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Flex 分享、Rich Menu 部署、分眾推播、權限與敏感 Key 不外露。</a:t>
            </a:r>
            <a:endParaRPr lang="zh-TW" sz="1700"/>
          </a:p>
        </p:txBody>
      </p:sp>
      <p:sp>
        <p:nvSpPr>
          <p:cNvPr id="11" name="Shape 11"/>
          <p:cNvSpPr/>
          <p:nvPr/>
        </p:nvSpPr>
        <p:spPr>
          <a:xfrm>
            <a:off x="740000" y="6380000"/>
            <a:ext cx="10700000" cy="45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  <p:sp>
        <p:nvSpPr>
          <p:cNvPr id="3" name="Header"/>
          <p:cNvSpPr txBox="1"/>
          <p:nvPr/>
        </p:nvSpPr>
        <p:spPr>
          <a:xfrm>
            <a:off x="740000" y="16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b="1">
                <a:solidFill>
                  <a:srgbClr val="FFFFFF"/>
                </a:solidFill>
                <a:latin typeface="Microsoft JhengHei"/>
                <a:ea typeface="Microsoft JhengHei"/>
              </a:rPr>
              <a:t>櫻花福委會福利資訊整合平台</a:t>
            </a:r>
            <a:endParaRPr lang="zh-TW" sz="1800"/>
          </a:p>
        </p:txBody>
      </p:sp>
      <p:sp>
        <p:nvSpPr>
          <p:cNvPr id="4" name="Title"/>
          <p:cNvSpPr txBox="1"/>
          <p:nvPr/>
        </p:nvSpPr>
        <p:spPr>
          <a:xfrm>
            <a:off x="740000" y="950000"/>
            <a:ext cx="92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b="1">
                <a:solidFill>
                  <a:srgbClr val="071226"/>
                </a:solidFill>
                <a:latin typeface="Microsoft JhengHei"/>
                <a:ea typeface="Microsoft JhengHei"/>
              </a:rPr>
              <a:t>明日會議待確認</a:t>
            </a:r>
            <a:endParaRPr lang="zh-TW" sz="3100"/>
          </a:p>
        </p:txBody>
      </p:sp>
      <p:sp>
        <p:nvSpPr>
          <p:cNvPr id="5" name="Subtitle"/>
          <p:cNvSpPr txBox="1"/>
          <p:nvPr/>
        </p:nvSpPr>
        <p:spPr>
          <a:xfrm>
            <a:off x="760000" y="1480000"/>
            <a:ext cx="93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>
                <a:solidFill>
                  <a:srgbClr val="52627A"/>
                </a:solidFill>
                <a:latin typeface="Microsoft JhengHei"/>
                <a:ea typeface="Microsoft JhengHei"/>
              </a:rPr>
              <a:t>建議逐條決策，避免需求發散。</a:t>
            </a:r>
            <a:endParaRPr lang="zh-TW" sz="1500"/>
          </a:p>
        </p:txBody>
      </p:sp>
      <p:sp>
        <p:nvSpPr>
          <p:cNvPr id="6" name="Section"/>
          <p:cNvSpPr txBox="1"/>
          <p:nvPr/>
        </p:nvSpPr>
        <p:spPr>
          <a:xfrm>
            <a:off x="9900000" y="104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300" b="1">
                <a:solidFill>
                  <a:srgbClr val="E91646"/>
                </a:solidFill>
                <a:latin typeface="Microsoft JhengHei"/>
                <a:ea typeface="Microsoft JhengHei"/>
              </a:rPr>
              <a:t>12</a:t>
            </a:r>
            <a:endParaRPr lang="zh-TW" sz="1300"/>
          </a:p>
        </p:txBody>
      </p:sp>
      <p:sp>
        <p:nvSpPr>
          <p:cNvPr id="7" name="Bullet"/>
          <p:cNvSpPr txBox="1"/>
          <p:nvPr/>
        </p:nvSpPr>
        <p:spPr>
          <a:xfrm>
            <a:off x="860000" y="205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員工名冊來源、工號格式、生日四碼規則。</a:t>
            </a:r>
            <a:endParaRPr lang="zh-TW" sz="1700"/>
          </a:p>
        </p:txBody>
      </p:sp>
      <p:sp>
        <p:nvSpPr>
          <p:cNvPr id="8" name="Bullet"/>
          <p:cNvSpPr txBox="1"/>
          <p:nvPr/>
        </p:nvSpPr>
        <p:spPr>
          <a:xfrm>
            <a:off x="860000" y="248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廠商必填文件、審核 SLA、醫療院所是否獨立審核。</a:t>
            </a:r>
            <a:endParaRPr lang="zh-TW" sz="1700"/>
          </a:p>
        </p:txBody>
      </p:sp>
      <p:sp>
        <p:nvSpPr>
          <p:cNvPr id="9" name="Bullet"/>
          <p:cNvSpPr txBox="1"/>
          <p:nvPr/>
        </p:nvSpPr>
        <p:spPr>
          <a:xfrm>
            <a:off x="860000" y="291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每日打卡、到店打卡、推薦好友的給點規則。</a:t>
            </a:r>
            <a:endParaRPr lang="zh-TW" sz="1700"/>
          </a:p>
        </p:txBody>
      </p:sp>
      <p:sp>
        <p:nvSpPr>
          <p:cNvPr id="10" name="Bullet"/>
          <p:cNvSpPr txBox="1"/>
          <p:nvPr/>
        </p:nvSpPr>
        <p:spPr>
          <a:xfrm>
            <a:off x="860000" y="3340000"/>
            <a:ext cx="97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>
                <a:solidFill>
                  <a:srgbClr val="10213D"/>
                </a:solidFill>
                <a:latin typeface="Microsoft JhengHei"/>
                <a:ea typeface="Microsoft JhengHei"/>
              </a:rPr>
              <a:t>• 誰可以正式分眾推播、AI 是否只能建議、哪些資料屬敏感資訊。</a:t>
            </a:r>
            <a:endParaRPr lang="zh-TW" sz="1700"/>
          </a:p>
        </p:txBody>
      </p:sp>
      <p:sp>
        <p:nvSpPr>
          <p:cNvPr id="11" name="Shape 11"/>
          <p:cNvSpPr/>
          <p:nvPr/>
        </p:nvSpPr>
        <p:spPr>
          <a:xfrm>
            <a:off x="740000" y="6380000"/>
            <a:ext cx="10700000" cy="45000"/>
          </a:xfrm>
          <a:prstGeom prst="rect">
            <a:avLst/>
          </a:prstGeom>
          <a:solidFill>
            <a:srgbClr val="E91646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akura">
  <a:themeElements>
    <a:clrScheme name="Sakura">
      <a:dk1>
        <a:srgbClr val="071226"/>
      </a:dk1>
      <a:lt1>
        <a:srgbClr val="FFFFFF"/>
      </a:lt1>
      <a:dk2>
        <a:srgbClr val="10213D"/>
      </a:dk2>
      <a:lt2>
        <a:srgbClr val="F8FAFC"/>
      </a:lt2>
      <a:accent1>
        <a:srgbClr val="E91646"/>
      </a:accent1>
      <a:accent2>
        <a:srgbClr val="2F80ED"/>
      </a:accent2>
      <a:accent3>
        <a:srgbClr val="06C755"/>
      </a:accent3>
      <a:accent4>
        <a:srgbClr val="F59E0B"/>
      </a:accent4>
      <a:accent5>
        <a:srgbClr val="7C3AED"/>
      </a:accent5>
      <a:accent6>
        <a:srgbClr val="0F766E"/>
      </a:accent6>
      <a:hlink>
        <a:srgbClr val="2F80ED"/>
      </a:hlink>
      <a:folHlink>
        <a:srgbClr val="7C3AED"/>
      </a:folHlink>
    </a:clrScheme>
    <a:fontScheme name="Sakura">
      <a:majorFont>
        <a:latin typeface="Microsoft JhengHei"/>
        <a:ea typeface="Microsoft JhengHei"/>
      </a:majorFont>
      <a:minorFont>
        <a:latin typeface="Microsoft JhengHei"/>
        <a:ea typeface="Microsoft JhengHei"/>
      </a:minorFont>
    </a:fontScheme>
    <a:fmtScheme name="Sakura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寬螢幕</PresentationFormat>
  <Slides>13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櫻花福委會福利資訊整合平台會議簡報</dc:title>
  <dc:creator>Codex</dc:creator>
  <cp:lastModifiedBy>Codex</cp:lastModifiedBy>
  <dcterms:created xsi:type="dcterms:W3CDTF">2026-05-12T00:00:00Z</dcterms:created>
  <dcterms:modified xsi:type="dcterms:W3CDTF">2026-05-12T00:00:00Z</dcterms:modified>
</cp:coreProperties>
</file>